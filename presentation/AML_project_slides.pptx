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Advanced Machine Learning (STW7085CEM)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CFDEEE"/>
                </a:solidFill>
                <a:latin typeface="Calibri"/>
              </a:rPr>
              <a:t>Coursework Project: Task 1 and 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Task 1: Complaint Topic Discovery and Escalation-Risk Prediction (LDA + Gaussian Process)</a:t>
            </a:r>
          </a:p>
          <a:p>
            <a:pPr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Task 2: Fuzzy Logic Optimised Controller, GA Tuning and CEC'2005 Optimiser Comparison</a:t>
            </a:r>
          </a:p>
          <a:p>
            <a:pPr>
              <a:spcAft>
                <a:spcPts val="300"/>
              </a:spcAft>
            </a:pPr>
            <a:r>
              <a:rPr sz="800" b="0" i="0">
                <a:solidFill>
                  <a:srgbClr val="D7E2EF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D7E2EF"/>
                </a:solidFill>
                <a:latin typeface="Calibri"/>
              </a:rPr>
              <a:t>Rahul Karn  -  Student ID 250163, CUID 16542734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D7E2EF"/>
                </a:solidFill>
                <a:latin typeface="Calibri"/>
              </a:rPr>
              <a:t>Rashant Nayaju  -  Student ID 250117, CUID 16542767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D7E2EF"/>
                </a:solidFill>
                <a:latin typeface="Calibri"/>
              </a:rPr>
              <a:t>Softwarica College of IT and E-Commerce (Coventry University), Kathmandu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OVERVIEW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Two independent machine-learning studies for the module coursework.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Task 1 (Python): unsupervised topic discovery and supervised escalation-risk prediction on consumer-finance complaints.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Task 2 (MATLAB): a fuzzy logic controller for an assistive-care room, its genetic optimisation, and an optimiser comparison on benchmark functions.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Both emphasise honest evaluation: calibration and a negative result in Task 1, and a reproducible 15-run protocol in Task 2.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All work is reproducible from the linked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1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Problem and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Goal: find what people complain about, and predict which complaints win relief.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Public consumer-finance complaints; 70,000 records cleaned to 56,390 narratives.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Debt-collection and mortgage products, May 2023 to May 2026.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Escalation label from the recorded company response (relief vs explanation).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Class imbalance kept as-is: about 17.8 percent positive.</a:t>
            </a:r>
          </a:p>
        </p:txBody>
      </p:sp>
      <p:pic>
        <p:nvPicPr>
          <p:cNvPr id="5" name="Picture 4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572000" cy="31652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1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Topic modelling: Latent Dirichlet Allocation, compared with LSA.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Topic count chosen by c_v coherence; five clear themes.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Escalation: Gaussian Process classifier by thresholding a GP regressor.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RBF vs Matern kernel selected by marginal likelihood.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SVM with Platt scaling as the baseline; five-fold cross-validation.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Evaluation looks past accuracy to calibration, PR-AUC and uncertainty.</a:t>
            </a:r>
          </a:p>
        </p:txBody>
      </p:sp>
      <p:pic>
        <p:nvPicPr>
          <p:cNvPr id="5" name="Picture 4" descr="lda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1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pic>
        <p:nvPicPr>
          <p:cNvPr id="4" name="Picture 3" descr="topic_word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212080" cy="903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LDA gives clearer topics than LSA (coherence 0.65 vs 0.49)</a:t>
            </a:r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521208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57607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GP slightly ahead of SVM; both well calibrated (Brier ~0.14)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1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Findings and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GP edges the SVM: macro-F1 0.57 vs 0.53, ROC-AUC 0.67 vs 0.65.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Both models well calibrated; ECE about 0.02.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Signal is weak: the narrative alone does not determine relief.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Negative result reported honestly: GP uncertainty does not improve accuracy under selective prediction on this data.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Topic-to-outcome link: credit-reporting complaints win relief most (0.27), mortgage servicing least (0.06).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2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Fuzzy logic controller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Mamdani FLC for thermal comfort in one assistive-care room.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Inputs: temperature (5 sets) and activity (3 sets).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Output: a single signed HVAC command (-100 cooling to +100 heating).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- 15 rules, min/max inference, centroid defuzzification.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Built and demonstrated in the MATLAB Fuzzy Logic Designer.</a:t>
            </a:r>
          </a:p>
        </p:txBody>
      </p:sp>
      <p:pic>
        <p:nvPicPr>
          <p:cNvPr id="5" name="Picture 4" descr="p1_control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754880" cy="3620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2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Genetic optimisation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Real-coded GA tunes the membership-function breakpoints.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Chromosome length L = 31; tournament selection, BLX-0.5 crossover, Gaussian mutation, elitism.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Fitness: mean squared error against a target comfort dataset (286 examples).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Result: MSE 300.9 -&gt; 57.2, an 81 percent reduction.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Our GA also beat the built-in solver (MSE 136.7) on the same budget.</a:t>
            </a:r>
          </a:p>
        </p:txBody>
      </p:sp>
      <p:pic>
        <p:nvPicPr>
          <p:cNvPr id="5" name="Picture 4" descr="p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754880" cy="3171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2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CEC'2005 optimiser comparison (Part 3)</a:t>
            </a:r>
          </a:p>
        </p:txBody>
      </p:sp>
      <p:pic>
        <p:nvPicPr>
          <p:cNvPr id="4" name="Picture 3" descr="p3_conv_F1_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212080" cy="3551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Unimodal Sphere D=10: GA and PSO converge fastest</a:t>
            </a:r>
          </a:p>
        </p:txBody>
      </p:sp>
      <p:pic>
        <p:nvPicPr>
          <p:cNvPr id="6" name="Picture 5" descr="p3_conv_F9_D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5212080" cy="35515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57607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Multimodal Rastrigin D=10: GA is the most reliable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TASK 2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Comparison: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Two CEC'2005 functions: F1 Shifted Sphere and F9 Shifted Rastrigin.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Three optimisers (GA, PSO, SA), dimensions D=2 and D=10, 15 runs each.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Sphere: GA and PSO reach the optimum; SA weaker at high dimension.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Rastrigin D=10: GA best (mean error 0.02), PSO ~11, SA ~22.</a:t>
            </a:r>
          </a:p>
          <a:p>
            <a:pPr lvl="1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- Hand-coded results cross-checked against the Global Optimization Toolbox.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9EC3E6"/>
                </a:solidFill>
                <a:latin typeface="Calibri"/>
              </a:rPr>
              <a:t>CONCLUSION  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Task 1: LDA gives readable themes; GP matches the SVM and adds calibrated uncertainty, with limits reported honestly.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Task 2: the GA improves the controller by 81 percent and is the most reliable optimiser on the hard multimodal benchmark.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Both studies are fully reproducible from the repository.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- Author contributions and full methods are in each task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>
              <a:spcBef>
                <a:spcPts val="1400"/>
              </a:spcBef>
            </a:pPr>
            <a:r>
              <a:rPr sz="1600" b="0" i="0">
                <a:solidFill>
                  <a:srgbClr val="D7E2EF"/>
                </a:solidFill>
                <a:latin typeface="Calibri"/>
              </a:rPr>
              <a:t>Code, dataset, figures and reports:</a:t>
            </a:r>
          </a:p>
          <a:p>
            <a:r>
              <a:rPr sz="1800" b="1" i="0">
                <a:solidFill>
                  <a:srgbClr val="9EC3E6"/>
                </a:solidFill>
                <a:latin typeface="Calibri"/>
              </a:rPr>
              <a:t>https://github.com/rahulkarn250163/aml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